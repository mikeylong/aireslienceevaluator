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838d80befc4a77" /><Relationship Type="http://schemas.openxmlformats.org/officeDocument/2006/relationships/extended-properties" Target="/docProps/app.xml" Id="R26b36ec35cf04ee4" /><Relationship Type="http://schemas.openxmlformats.org/officeDocument/2006/relationships/officeDocument" Target="/ppt/presentation.xml" Id="Rcec0ef3990f84502" /></Relationships>
</file>

<file path=ppt/presentation.xml><?xml version="1.0" encoding="utf-8"?>
<p:presentation xmlns:p="http://schemas.openxmlformats.org/presentationml/2006/main">
  <p:sldMasterIdLst>
    <p:sldMasterId xmlns:r="http://schemas.openxmlformats.org/officeDocument/2006/relationships" id="2147483648" r:id="Rd212d8de373b41a7"/>
  </p:sldMasterIdLst>
  <p:notesMasterIdLst>
    <p:notesMasterId xmlns:r="http://schemas.openxmlformats.org/officeDocument/2006/relationships" r:id="Rc9056ea04c8e4cb4"/>
  </p:notesMasterIdLst>
  <p:sldIdLst>
    <p:sldId xmlns:r="http://schemas.openxmlformats.org/officeDocument/2006/relationships" id="256" r:id="R4b0fe6f86503470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212d8de373b41a7" /><Relationship Type="http://schemas.openxmlformats.org/officeDocument/2006/relationships/theme" Target="/ppt/theme/theme1.xml" Id="Rac9f462a7c9f4ab2" /><Relationship Type="http://schemas.openxmlformats.org/officeDocument/2006/relationships/notesMaster" Target="/ppt/notesMasters/notesMaster1.xml" Id="Rc9056ea04c8e4cb4" /><Relationship Type="http://schemas.openxmlformats.org/officeDocument/2006/relationships/presProps" Target="/ppt/presProps.xml" Id="R173a0db00c33406e" /><Relationship Type="http://schemas.openxmlformats.org/officeDocument/2006/relationships/viewProps" Target="/ppt/viewProps.xml" Id="R814ae499e15a4fc0" /><Relationship Type="http://schemas.openxmlformats.org/officeDocument/2006/relationships/tableStyles" Target="/ppt/tableStyles.xml" Id="Reca69697014e46d4" /><Relationship Type="http://schemas.openxmlformats.org/officeDocument/2006/relationships/slide" Target="/ppt/slides/slide1.xml" Id="R4b0fe6f8650347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fd5de205a9942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2373a8c23e4a76" /><Relationship Type="http://schemas.openxmlformats.org/officeDocument/2006/relationships/notesMaster" Target="/ppt/notesMasters/notesMaster1.xml" Id="R644be7c24af541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one-slide executive summary of the full report.</a:t>
            </a:r>
          </a:p>
          <a:p xmlns:a="http://schemas.openxmlformats.org/drawingml/2006/main">
            <a:r>
              <a:t>Markdown source: /Users/mike/AiReslienceEvaluator/reports/claude-design-figma-make-lovable-v0-ai-resilience-report.md</a:t>
            </a:r>
          </a:p>
          <a:p xmlns:a="http://schemas.openxmlformats.org/drawingml/2006/main">
            <a:r>
              <a:t>JSON source: /Users/mike/AiReslienceEvaluator/reports/claude-design-figma-make-lovable-v0-ai-resilience-report.json</a:t>
            </a:r>
          </a:p>
          <a:p xmlns:a="http://schemas.openxmlformats.org/drawingml/2006/main">
            <a:r>
              <a:t>SVG source: /Users/mike/AiReslienceEvaluator/reports/claude-design-figma-make-lovable-v0-ai-resilience-report.svg</a:t>
            </a:r>
          </a:p>
          <a:p xmlns:a="http://schemas.openxmlformats.org/drawingml/2006/main">
            <a:r>
              <a:t>Caveat: no new live task run was performed for Claude Design or v0.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d396f9f69c45ea"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88BD8DE2-8172-475E-BCEF-500775238DF1}"/>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6C56033F-5318-483E-8F82-61406146B0BC}"/>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3944A72F-472B-4FA4-B093-01714BC56132}"/>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ADA0B98A-2918-4633-AC9E-2339E5231F6B}"/>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C284B358-32F3-4F7D-B0A8-115811FC9792}"/>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8fedae72461845db" /><Relationship Type="http://schemas.openxmlformats.org/officeDocument/2006/relationships/slideLayout" Target="/ppt/slideLayouts/slideLayout2.xml" Id="R8747ecb2cbb941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2D196F00-1D12-43F1-B2F8-80653591F8D1}"/>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47ecb2cbb941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a5e160ff04a14c17" /><Relationship Type="http://schemas.openxmlformats.org/officeDocument/2006/relationships/notesSlide" Target="/ppt/notesSlides/notesSlide1.xml" Id="Re1d30475179b4c3b" /></Relationships>
</file>

<file path=ppt/slides/slide1.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284B358-32F3-4F7D-B0A8-115811FC9792}"/>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1996CF9-C385-4716-BC7C-AB3E4C1EB513}"/>
              </a:ext>
            </a:extLst>
          </p:cNvPr>
          <p:cNvSpPr>
            <a:spLocks xmlns:a="http://schemas.openxmlformats.org/drawingml/2006/main" noGrp="1"/>
          </p:cNvSpPr>
          <p:nvPr/>
        </p:nvSpPr>
        <p:spPr>
          <a:xfrm xmlns:a="http://schemas.openxmlformats.org/drawingml/2006/main">
            <a:off x="609600" y="400050"/>
            <a:ext cx="723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75" b="1">
                <a:solidFill>
                  <a:srgbClr val="111111"/>
                </a:solidFill>
              </a:defRPr>
            </a:pPr>
            <a:r>
              <a:rPr sz="2475" b="1">
                <a:solidFill>
                  <a:srgbClr val="111111"/>
                </a:solidFill>
              </a:rPr>
              <a:t>AI Resilience: Creation-to-Published Cohort</a:t>
            </a:r>
          </a:p>
        </p:txBody>
      </p:sp>
      <p:sp>
        <p:nvSpPr>
          <p:cNvPr id="3" name="">
            <a:extLst xmlns:a="http://schemas.openxmlformats.org/drawingml/2006/main">
              <a:ext uri="{FF2B5EF4-FFF2-40B4-BE49-F238E27FC236}">
                <a16:creationId xmlns:a16="http://schemas.microsoft.com/office/drawing/2014/main" id="{F6FF1519-9ABB-46ED-B0E9-AF62AA05342B}"/>
              </a:ext>
            </a:extLst>
          </p:cNvPr>
          <p:cNvSpPr>
            <a:spLocks xmlns:a="http://schemas.openxmlformats.org/drawingml/2006/main" noGrp="1"/>
          </p:cNvSpPr>
          <p:nvPr/>
        </p:nvSpPr>
        <p:spPr>
          <a:xfrm xmlns:a="http://schemas.openxmlformats.org/drawingml/2006/main">
            <a:off x="628650" y="838200"/>
            <a:ext cx="638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D6D6D"/>
                </a:solidFill>
              </a:defRPr>
            </a:pPr>
            <a:r>
              <a:rPr sz="975" b="0">
                <a:solidFill>
                  <a:srgbClr val="6D6D6D"/>
                </a:solidFill>
              </a:rPr>
              <a:t>Claude Design vs Figma Make vs Lovable vs Vercel v0 | 75-point rubric | Apr 22, 2026</a:t>
            </a:r>
          </a:p>
        </p:txBody>
      </p:sp>
      <p:sp>
        <p:nvSpPr>
          <p:cNvPr id="4" name="">
            <a:extLst xmlns:a="http://schemas.openxmlformats.org/drawingml/2006/main">
              <a:ext uri="{FF2B5EF4-FFF2-40B4-BE49-F238E27FC236}">
                <a16:creationId xmlns:a16="http://schemas.microsoft.com/office/drawing/2014/main" id="{C7FB8C7F-03F7-4B29-9C28-1FD7835EB9C5}"/>
              </a:ext>
            </a:extLst>
          </p:cNvPr>
          <p:cNvSpPr>
            <a:spLocks xmlns:a="http://schemas.openxmlformats.org/drawingml/2006/main" noGrp="1"/>
          </p:cNvSpPr>
          <p:nvPr/>
        </p:nvSpPr>
        <p:spPr>
          <a:xfrm xmlns:a="http://schemas.openxmlformats.org/drawingml/2006/main">
            <a:off x="609600" y="120015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E8E5A"/>
                </a:solidFill>
              </a:defRPr>
            </a:pPr>
            <a:r>
              <a:rPr sz="1200" b="1">
                <a:solidFill>
                  <a:srgbClr val="1E8E5A"/>
                </a:solidFill>
              </a:rPr>
              <a:t>Verdict</a:t>
            </a:r>
          </a:p>
        </p:txBody>
      </p:sp>
      <p:sp>
        <p:nvSpPr>
          <p:cNvPr id="5" name="">
            <a:extLst xmlns:a="http://schemas.openxmlformats.org/drawingml/2006/main">
              <a:ext uri="{FF2B5EF4-FFF2-40B4-BE49-F238E27FC236}">
                <a16:creationId xmlns:a16="http://schemas.microsoft.com/office/drawing/2014/main" id="{FBB66F22-0CDA-4E28-97C0-6FF69EC0E4EB}"/>
              </a:ext>
            </a:extLst>
          </p:cNvPr>
          <p:cNvSpPr>
            <a:spLocks xmlns:a="http://schemas.openxmlformats.org/drawingml/2006/main" noGrp="1"/>
          </p:cNvSpPr>
          <p:nvPr/>
        </p:nvSpPr>
        <p:spPr>
          <a:xfrm xmlns:a="http://schemas.openxmlformats.org/drawingml/2006/main">
            <a:off x="609600" y="1428750"/>
            <a:ext cx="40386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3A3A3A"/>
                </a:solidFill>
              </a:defRPr>
            </a:pPr>
            <a:r>
              <a:rPr sz="1200" b="0">
                <a:solidFill>
                  <a:srgbClr val="3A3A3A"/>
                </a:solidFill>
              </a:rPr>
              <a:t>v0 leads on code/deploy linkage. Figma Make has the strongest design-context evidence; Claude Design is high-upside but launch-stage; Lovable is credible but exposed.</a:t>
            </a:r>
          </a:p>
        </p:txBody>
      </p:sp>
      <p:sp>
        <p:nvSpPr>
          <p:cNvPr id="6" name="">
            <a:extLst xmlns:a="http://schemas.openxmlformats.org/drawingml/2006/main">
              <a:ext uri="{FF2B5EF4-FFF2-40B4-BE49-F238E27FC236}">
                <a16:creationId xmlns:a16="http://schemas.microsoft.com/office/drawing/2014/main" id="{3F64DD37-F0E8-4F38-84B6-E837035B4009}"/>
              </a:ext>
            </a:extLst>
          </p:cNvPr>
          <p:cNvSpPr>
            <a:spLocks xmlns:a="http://schemas.openxmlformats.org/drawingml/2006/main" noGrp="1"/>
          </p:cNvSpPr>
          <p:nvPr/>
        </p:nvSpPr>
        <p:spPr>
          <a:xfrm xmlns:a="http://schemas.openxmlformats.org/drawingml/2006/main">
            <a:off x="609600" y="2152650"/>
            <a:ext cx="4038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111111"/>
            </a:solidFill>
            <a:prstDash val="solid"/>
          </a:ln>
        </p:spPr>
      </p:sp>
      <p:sp>
        <p:nvSpPr>
          <p:cNvPr id="7" name="">
            <a:extLst xmlns:a="http://schemas.openxmlformats.org/drawingml/2006/main">
              <a:ext uri="{FF2B5EF4-FFF2-40B4-BE49-F238E27FC236}">
                <a16:creationId xmlns:a16="http://schemas.microsoft.com/office/drawing/2014/main" id="{E1A8F812-70F1-4AEB-A319-664E574FFA64}"/>
              </a:ext>
            </a:extLst>
          </p:cNvPr>
          <p:cNvSpPr>
            <a:spLocks xmlns:a="http://schemas.openxmlformats.org/drawingml/2006/main" noGrp="1"/>
          </p:cNvSpPr>
          <p:nvPr/>
        </p:nvSpPr>
        <p:spPr>
          <a:xfrm xmlns:a="http://schemas.openxmlformats.org/drawingml/2006/main">
            <a:off x="609600" y="2152650"/>
            <a:ext cx="66675" cy="552450"/>
          </a:xfrm>
          <a:prstGeom xmlns:a="http://schemas.openxmlformats.org/drawingml/2006/main" prst="rect">
            <a:avLst/>
          </a:prstGeom>
          <a:solidFill xmlns:a="http://schemas.openxmlformats.org/drawingml/2006/main">
            <a:srgbClr val="1E8E5A"/>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8E87E46-6872-4813-A855-35BB0720BE3F}"/>
              </a:ext>
            </a:extLst>
          </p:cNvPr>
          <p:cNvSpPr>
            <a:spLocks xmlns:a="http://schemas.openxmlformats.org/drawingml/2006/main" noGrp="1"/>
          </p:cNvSpPr>
          <p:nvPr/>
        </p:nvSpPr>
        <p:spPr>
          <a:xfrm xmlns:a="http://schemas.openxmlformats.org/drawingml/2006/main">
            <a:off x="800100" y="2276475"/>
            <a:ext cx="24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E8E5A"/>
                </a:solidFill>
              </a:defRPr>
            </a:pPr>
            <a:r>
              <a:rPr sz="1800" b="1">
                <a:solidFill>
                  <a:srgbClr val="1E8E5A"/>
                </a:solidFill>
              </a:rPr>
              <a:t>1</a:t>
            </a:r>
          </a:p>
        </p:txBody>
      </p:sp>
      <p:sp>
        <p:nvSpPr>
          <p:cNvPr id="9" name="">
            <a:extLst xmlns:a="http://schemas.openxmlformats.org/drawingml/2006/main">
              <a:ext uri="{FF2B5EF4-FFF2-40B4-BE49-F238E27FC236}">
                <a16:creationId xmlns:a16="http://schemas.microsoft.com/office/drawing/2014/main" id="{0E9DF847-38DB-483E-A140-40608462BEEA}"/>
              </a:ext>
            </a:extLst>
          </p:cNvPr>
          <p:cNvSpPr>
            <a:spLocks xmlns:a="http://schemas.openxmlformats.org/drawingml/2006/main" noGrp="1"/>
          </p:cNvSpPr>
          <p:nvPr/>
        </p:nvSpPr>
        <p:spPr>
          <a:xfrm xmlns:a="http://schemas.openxmlformats.org/drawingml/2006/main">
            <a:off x="1181100" y="224790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111"/>
                </a:solidFill>
              </a:defRPr>
            </a:pPr>
            <a:r>
              <a:rPr sz="1425" b="1">
                <a:solidFill>
                  <a:srgbClr val="111111"/>
                </a:solidFill>
              </a:rPr>
              <a:t>Vercel v0</a:t>
            </a:r>
          </a:p>
        </p:txBody>
      </p:sp>
      <p:sp>
        <p:nvSpPr>
          <p:cNvPr id="10" name="">
            <a:extLst xmlns:a="http://schemas.openxmlformats.org/drawingml/2006/main">
              <a:ext uri="{FF2B5EF4-FFF2-40B4-BE49-F238E27FC236}">
                <a16:creationId xmlns:a16="http://schemas.microsoft.com/office/drawing/2014/main" id="{2FBDB3B0-F9DC-481D-B35A-50B10E8783AF}"/>
              </a:ext>
            </a:extLst>
          </p:cNvPr>
          <p:cNvSpPr>
            <a:spLocks xmlns:a="http://schemas.openxmlformats.org/drawingml/2006/main" noGrp="1"/>
          </p:cNvSpPr>
          <p:nvPr/>
        </p:nvSpPr>
        <p:spPr>
          <a:xfrm xmlns:a="http://schemas.openxmlformats.org/drawingml/2006/main">
            <a:off x="1181100" y="2486025"/>
            <a:ext cx="242887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A3A3A"/>
                </a:solidFill>
              </a:defRPr>
            </a:pPr>
            <a:r>
              <a:rPr sz="900" b="0">
                <a:solidFill>
                  <a:srgbClr val="3A3A3A"/>
                </a:solidFill>
              </a:rPr>
              <a:t>Code, Git, PR, preview, deploy</a:t>
            </a:r>
          </a:p>
        </p:txBody>
      </p:sp>
      <p:sp>
        <p:nvSpPr>
          <p:cNvPr id="11" name="">
            <a:extLst xmlns:a="http://schemas.openxmlformats.org/drawingml/2006/main">
              <a:ext uri="{FF2B5EF4-FFF2-40B4-BE49-F238E27FC236}">
                <a16:creationId xmlns:a16="http://schemas.microsoft.com/office/drawing/2014/main" id="{5EB26060-4057-4358-9285-A88DBB847514}"/>
              </a:ext>
            </a:extLst>
          </p:cNvPr>
          <p:cNvSpPr>
            <a:spLocks xmlns:a="http://schemas.openxmlformats.org/drawingml/2006/main" noGrp="1"/>
          </p:cNvSpPr>
          <p:nvPr/>
        </p:nvSpPr>
        <p:spPr>
          <a:xfrm xmlns:a="http://schemas.openxmlformats.org/drawingml/2006/main">
            <a:off x="3695700" y="2257425"/>
            <a:ext cx="723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111111"/>
                </a:solidFill>
              </a:defRPr>
            </a:pPr>
            <a:r>
              <a:rPr sz="1350" b="1">
                <a:solidFill>
                  <a:srgbClr val="111111"/>
                </a:solidFill>
              </a:rPr>
              <a:t>52/75</a:t>
            </a:r>
          </a:p>
        </p:txBody>
      </p:sp>
      <p:sp>
        <p:nvSpPr>
          <p:cNvPr id="12" name="">
            <a:extLst xmlns:a="http://schemas.openxmlformats.org/drawingml/2006/main">
              <a:ext uri="{FF2B5EF4-FFF2-40B4-BE49-F238E27FC236}">
                <a16:creationId xmlns:a16="http://schemas.microsoft.com/office/drawing/2014/main" id="{8BD45A59-A38E-4CDB-9E20-5CFFC28A84DA}"/>
              </a:ext>
            </a:extLst>
          </p:cNvPr>
          <p:cNvSpPr>
            <a:spLocks xmlns:a="http://schemas.openxmlformats.org/drawingml/2006/main" noGrp="1"/>
          </p:cNvSpPr>
          <p:nvPr/>
        </p:nvSpPr>
        <p:spPr>
          <a:xfrm xmlns:a="http://schemas.openxmlformats.org/drawingml/2006/main">
            <a:off x="3695700" y="2514600"/>
            <a:ext cx="723900" cy="57150"/>
          </a:xfrm>
          <a:prstGeom xmlns:a="http://schemas.openxmlformats.org/drawingml/2006/main" prst="rect">
            <a:avLst/>
          </a:prstGeom>
          <a:solidFill xmlns:a="http://schemas.openxmlformats.org/drawingml/2006/main">
            <a:srgbClr val="F2F2F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85C3BEC-9635-4877-9069-D980AF3AF3C2}"/>
              </a:ext>
            </a:extLst>
          </p:cNvPr>
          <p:cNvSpPr>
            <a:spLocks xmlns:a="http://schemas.openxmlformats.org/drawingml/2006/main" noGrp="1"/>
          </p:cNvSpPr>
          <p:nvPr/>
        </p:nvSpPr>
        <p:spPr>
          <a:xfrm xmlns:a="http://schemas.openxmlformats.org/drawingml/2006/main">
            <a:off x="3695700" y="2514600"/>
            <a:ext cx="504825" cy="57150"/>
          </a:xfrm>
          <a:prstGeom xmlns:a="http://schemas.openxmlformats.org/drawingml/2006/main" prst="rect">
            <a:avLst/>
          </a:prstGeom>
          <a:solidFill xmlns:a="http://schemas.openxmlformats.org/drawingml/2006/main">
            <a:srgbClr val="1E8E5A"/>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BA46723-F290-4196-9EED-9FD231593C70}"/>
              </a:ext>
            </a:extLst>
          </p:cNvPr>
          <p:cNvSpPr>
            <a:spLocks xmlns:a="http://schemas.openxmlformats.org/drawingml/2006/main" noGrp="1"/>
          </p:cNvSpPr>
          <p:nvPr/>
        </p:nvSpPr>
        <p:spPr>
          <a:xfrm xmlns:a="http://schemas.openxmlformats.org/drawingml/2006/main">
            <a:off x="609600" y="2876550"/>
            <a:ext cx="4038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111111"/>
            </a:solidFill>
            <a:prstDash val="solid"/>
          </a:ln>
        </p:spPr>
      </p:sp>
      <p:sp>
        <p:nvSpPr>
          <p:cNvPr id="15" name="">
            <a:extLst xmlns:a="http://schemas.openxmlformats.org/drawingml/2006/main">
              <a:ext uri="{FF2B5EF4-FFF2-40B4-BE49-F238E27FC236}">
                <a16:creationId xmlns:a16="http://schemas.microsoft.com/office/drawing/2014/main" id="{18779FAB-906A-411B-9046-8B05ED085B1D}"/>
              </a:ext>
            </a:extLst>
          </p:cNvPr>
          <p:cNvSpPr>
            <a:spLocks xmlns:a="http://schemas.openxmlformats.org/drawingml/2006/main" noGrp="1"/>
          </p:cNvSpPr>
          <p:nvPr/>
        </p:nvSpPr>
        <p:spPr>
          <a:xfrm xmlns:a="http://schemas.openxmlformats.org/drawingml/2006/main">
            <a:off x="609600" y="2876550"/>
            <a:ext cx="66675" cy="552450"/>
          </a:xfrm>
          <a:prstGeom xmlns:a="http://schemas.openxmlformats.org/drawingml/2006/main" prst="rect">
            <a:avLst/>
          </a:prstGeom>
          <a:solidFill xmlns:a="http://schemas.openxmlformats.org/drawingml/2006/main">
            <a:srgbClr val="22222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CEA33DE-48B2-4771-8D87-A4CD6BA04826}"/>
              </a:ext>
            </a:extLst>
          </p:cNvPr>
          <p:cNvSpPr>
            <a:spLocks xmlns:a="http://schemas.openxmlformats.org/drawingml/2006/main" noGrp="1"/>
          </p:cNvSpPr>
          <p:nvPr/>
        </p:nvSpPr>
        <p:spPr>
          <a:xfrm xmlns:a="http://schemas.openxmlformats.org/drawingml/2006/main">
            <a:off x="800100" y="3000375"/>
            <a:ext cx="24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defRPr>
            </a:pPr>
            <a:r>
              <a:rPr sz="1800" b="1">
                <a:solidFill>
                  <a:srgbClr val="222222"/>
                </a:solidFill>
              </a:rPr>
              <a:t>2</a:t>
            </a:r>
          </a:p>
        </p:txBody>
      </p:sp>
      <p:sp>
        <p:nvSpPr>
          <p:cNvPr id="17" name="">
            <a:extLst xmlns:a="http://schemas.openxmlformats.org/drawingml/2006/main">
              <a:ext uri="{FF2B5EF4-FFF2-40B4-BE49-F238E27FC236}">
                <a16:creationId xmlns:a16="http://schemas.microsoft.com/office/drawing/2014/main" id="{B05F1BC8-1761-4C05-B5AB-E4EDF023F030}"/>
              </a:ext>
            </a:extLst>
          </p:cNvPr>
          <p:cNvSpPr>
            <a:spLocks xmlns:a="http://schemas.openxmlformats.org/drawingml/2006/main" noGrp="1"/>
          </p:cNvSpPr>
          <p:nvPr/>
        </p:nvSpPr>
        <p:spPr>
          <a:xfrm xmlns:a="http://schemas.openxmlformats.org/drawingml/2006/main">
            <a:off x="1181100" y="297180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111"/>
                </a:solidFill>
              </a:defRPr>
            </a:pPr>
            <a:r>
              <a:rPr sz="1425" b="1">
                <a:solidFill>
                  <a:srgbClr val="111111"/>
                </a:solidFill>
              </a:rPr>
              <a:t>Figma Make</a:t>
            </a:r>
          </a:p>
        </p:txBody>
      </p:sp>
      <p:sp>
        <p:nvSpPr>
          <p:cNvPr id="18" name="">
            <a:extLst xmlns:a="http://schemas.openxmlformats.org/drawingml/2006/main">
              <a:ext uri="{FF2B5EF4-FFF2-40B4-BE49-F238E27FC236}">
                <a16:creationId xmlns:a16="http://schemas.microsoft.com/office/drawing/2014/main" id="{345CB984-D540-4BF5-9932-ECB6D37DBFFC}"/>
              </a:ext>
            </a:extLst>
          </p:cNvPr>
          <p:cNvSpPr>
            <a:spLocks xmlns:a="http://schemas.openxmlformats.org/drawingml/2006/main" noGrp="1"/>
          </p:cNvSpPr>
          <p:nvPr/>
        </p:nvSpPr>
        <p:spPr>
          <a:xfrm xmlns:a="http://schemas.openxmlformats.org/drawingml/2006/main">
            <a:off x="1181100" y="3209925"/>
            <a:ext cx="242887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A3A3A"/>
                </a:solidFill>
              </a:defRPr>
            </a:pPr>
            <a:r>
              <a:rPr sz="900" b="0">
                <a:solidFill>
                  <a:srgbClr val="3A3A3A"/>
                </a:solidFill>
              </a:rPr>
              <a:t>Figma context plus observed revisions</a:t>
            </a:r>
          </a:p>
        </p:txBody>
      </p:sp>
      <p:sp>
        <p:nvSpPr>
          <p:cNvPr id="19" name="">
            <a:extLst xmlns:a="http://schemas.openxmlformats.org/drawingml/2006/main">
              <a:ext uri="{FF2B5EF4-FFF2-40B4-BE49-F238E27FC236}">
                <a16:creationId xmlns:a16="http://schemas.microsoft.com/office/drawing/2014/main" id="{DDC28C8E-78BA-406D-B394-D5F63713D0CD}"/>
              </a:ext>
            </a:extLst>
          </p:cNvPr>
          <p:cNvSpPr>
            <a:spLocks xmlns:a="http://schemas.openxmlformats.org/drawingml/2006/main" noGrp="1"/>
          </p:cNvSpPr>
          <p:nvPr/>
        </p:nvSpPr>
        <p:spPr>
          <a:xfrm xmlns:a="http://schemas.openxmlformats.org/drawingml/2006/main">
            <a:off x="3695700" y="2981325"/>
            <a:ext cx="723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111111"/>
                </a:solidFill>
              </a:defRPr>
            </a:pPr>
            <a:r>
              <a:rPr sz="1350" b="1">
                <a:solidFill>
                  <a:srgbClr val="111111"/>
                </a:solidFill>
              </a:rPr>
              <a:t>48/75</a:t>
            </a:r>
          </a:p>
        </p:txBody>
      </p:sp>
      <p:sp>
        <p:nvSpPr>
          <p:cNvPr id="20" name="">
            <a:extLst xmlns:a="http://schemas.openxmlformats.org/drawingml/2006/main">
              <a:ext uri="{FF2B5EF4-FFF2-40B4-BE49-F238E27FC236}">
                <a16:creationId xmlns:a16="http://schemas.microsoft.com/office/drawing/2014/main" id="{C3A7C17D-2A8C-4AA6-B134-14D60555D654}"/>
              </a:ext>
            </a:extLst>
          </p:cNvPr>
          <p:cNvSpPr>
            <a:spLocks xmlns:a="http://schemas.openxmlformats.org/drawingml/2006/main" noGrp="1"/>
          </p:cNvSpPr>
          <p:nvPr/>
        </p:nvSpPr>
        <p:spPr>
          <a:xfrm xmlns:a="http://schemas.openxmlformats.org/drawingml/2006/main">
            <a:off x="3695700" y="3238500"/>
            <a:ext cx="723900" cy="57150"/>
          </a:xfrm>
          <a:prstGeom xmlns:a="http://schemas.openxmlformats.org/drawingml/2006/main" prst="rect">
            <a:avLst/>
          </a:prstGeom>
          <a:solidFill xmlns:a="http://schemas.openxmlformats.org/drawingml/2006/main">
            <a:srgbClr val="F2F2F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7E3A37A3-51FC-4D7A-85A8-68BBCCD9A1FC}"/>
              </a:ext>
            </a:extLst>
          </p:cNvPr>
          <p:cNvSpPr>
            <a:spLocks xmlns:a="http://schemas.openxmlformats.org/drawingml/2006/main" noGrp="1"/>
          </p:cNvSpPr>
          <p:nvPr/>
        </p:nvSpPr>
        <p:spPr>
          <a:xfrm xmlns:a="http://schemas.openxmlformats.org/drawingml/2006/main">
            <a:off x="3695700" y="3238500"/>
            <a:ext cx="466725" cy="57150"/>
          </a:xfrm>
          <a:prstGeom xmlns:a="http://schemas.openxmlformats.org/drawingml/2006/main" prst="rect">
            <a:avLst/>
          </a:prstGeom>
          <a:solidFill xmlns:a="http://schemas.openxmlformats.org/drawingml/2006/main">
            <a:srgbClr val="22222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DD8D71A-6638-49E7-A284-40786952C3CA}"/>
              </a:ext>
            </a:extLst>
          </p:cNvPr>
          <p:cNvSpPr>
            <a:spLocks xmlns:a="http://schemas.openxmlformats.org/drawingml/2006/main" noGrp="1"/>
          </p:cNvSpPr>
          <p:nvPr/>
        </p:nvSpPr>
        <p:spPr>
          <a:xfrm xmlns:a="http://schemas.openxmlformats.org/drawingml/2006/main">
            <a:off x="609600" y="3600450"/>
            <a:ext cx="4038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111111"/>
            </a:solidFill>
            <a:prstDash val="solid"/>
          </a:ln>
        </p:spPr>
      </p:sp>
      <p:sp>
        <p:nvSpPr>
          <p:cNvPr id="23" name="">
            <a:extLst xmlns:a="http://schemas.openxmlformats.org/drawingml/2006/main">
              <a:ext uri="{FF2B5EF4-FFF2-40B4-BE49-F238E27FC236}">
                <a16:creationId xmlns:a16="http://schemas.microsoft.com/office/drawing/2014/main" id="{9CF35189-D6A7-43FD-8400-51EA8A021EED}"/>
              </a:ext>
            </a:extLst>
          </p:cNvPr>
          <p:cNvSpPr>
            <a:spLocks xmlns:a="http://schemas.openxmlformats.org/drawingml/2006/main" noGrp="1"/>
          </p:cNvSpPr>
          <p:nvPr/>
        </p:nvSpPr>
        <p:spPr>
          <a:xfrm xmlns:a="http://schemas.openxmlformats.org/drawingml/2006/main">
            <a:off x="609600" y="3600450"/>
            <a:ext cx="66675" cy="552450"/>
          </a:xfrm>
          <a:prstGeom xmlns:a="http://schemas.openxmlformats.org/drawingml/2006/main" prst="rect">
            <a:avLst/>
          </a:prstGeom>
          <a:solidFill xmlns:a="http://schemas.openxmlformats.org/drawingml/2006/main">
            <a:srgbClr val="6D6D6D"/>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F210635F-F4AE-41F2-9C93-57CC94C71A2B}"/>
              </a:ext>
            </a:extLst>
          </p:cNvPr>
          <p:cNvSpPr>
            <a:spLocks xmlns:a="http://schemas.openxmlformats.org/drawingml/2006/main" noGrp="1"/>
          </p:cNvSpPr>
          <p:nvPr/>
        </p:nvSpPr>
        <p:spPr>
          <a:xfrm xmlns:a="http://schemas.openxmlformats.org/drawingml/2006/main">
            <a:off x="800100" y="3724275"/>
            <a:ext cx="24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6D6D6D"/>
                </a:solidFill>
              </a:defRPr>
            </a:pPr>
            <a:r>
              <a:rPr sz="1800" b="1">
                <a:solidFill>
                  <a:srgbClr val="6D6D6D"/>
                </a:solidFill>
              </a:rPr>
              <a:t>3</a:t>
            </a:r>
          </a:p>
        </p:txBody>
      </p:sp>
      <p:sp>
        <p:nvSpPr>
          <p:cNvPr id="25" name="">
            <a:extLst xmlns:a="http://schemas.openxmlformats.org/drawingml/2006/main">
              <a:ext uri="{FF2B5EF4-FFF2-40B4-BE49-F238E27FC236}">
                <a16:creationId xmlns:a16="http://schemas.microsoft.com/office/drawing/2014/main" id="{ED5B3170-9F25-4E11-A20B-9B2E4A9B66D9}"/>
              </a:ext>
            </a:extLst>
          </p:cNvPr>
          <p:cNvSpPr>
            <a:spLocks xmlns:a="http://schemas.openxmlformats.org/drawingml/2006/main" noGrp="1"/>
          </p:cNvSpPr>
          <p:nvPr/>
        </p:nvSpPr>
        <p:spPr>
          <a:xfrm xmlns:a="http://schemas.openxmlformats.org/drawingml/2006/main">
            <a:off x="1181100" y="369570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111"/>
                </a:solidFill>
              </a:defRPr>
            </a:pPr>
            <a:r>
              <a:rPr sz="1425" b="1">
                <a:solidFill>
                  <a:srgbClr val="111111"/>
                </a:solidFill>
              </a:rPr>
              <a:t>Claude Design</a:t>
            </a:r>
          </a:p>
        </p:txBody>
      </p:sp>
      <p:sp>
        <p:nvSpPr>
          <p:cNvPr id="26" name="">
            <a:extLst xmlns:a="http://schemas.openxmlformats.org/drawingml/2006/main">
              <a:ext uri="{FF2B5EF4-FFF2-40B4-BE49-F238E27FC236}">
                <a16:creationId xmlns:a16="http://schemas.microsoft.com/office/drawing/2014/main" id="{FBF59EA8-D991-49E4-B399-F22A594397EC}"/>
              </a:ext>
            </a:extLst>
          </p:cNvPr>
          <p:cNvSpPr>
            <a:spLocks xmlns:a="http://schemas.openxmlformats.org/drawingml/2006/main" noGrp="1"/>
          </p:cNvSpPr>
          <p:nvPr/>
        </p:nvSpPr>
        <p:spPr>
          <a:xfrm xmlns:a="http://schemas.openxmlformats.org/drawingml/2006/main">
            <a:off x="1181100" y="3933825"/>
            <a:ext cx="242887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A3A3A"/>
                </a:solidFill>
              </a:defRPr>
            </a:pPr>
            <a:r>
              <a:rPr sz="900" b="0">
                <a:solidFill>
                  <a:srgbClr val="3A3A3A"/>
                </a:solidFill>
              </a:rPr>
              <a:t>High-upside visual surface, lower proof</a:t>
            </a:r>
          </a:p>
        </p:txBody>
      </p:sp>
      <p:sp>
        <p:nvSpPr>
          <p:cNvPr id="27" name="">
            <a:extLst xmlns:a="http://schemas.openxmlformats.org/drawingml/2006/main">
              <a:ext uri="{FF2B5EF4-FFF2-40B4-BE49-F238E27FC236}">
                <a16:creationId xmlns:a16="http://schemas.microsoft.com/office/drawing/2014/main" id="{D50FF17F-9257-4E1C-BE34-5B58E87942AF}"/>
              </a:ext>
            </a:extLst>
          </p:cNvPr>
          <p:cNvSpPr>
            <a:spLocks xmlns:a="http://schemas.openxmlformats.org/drawingml/2006/main" noGrp="1"/>
          </p:cNvSpPr>
          <p:nvPr/>
        </p:nvSpPr>
        <p:spPr>
          <a:xfrm xmlns:a="http://schemas.openxmlformats.org/drawingml/2006/main">
            <a:off x="3695700" y="3705225"/>
            <a:ext cx="723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111111"/>
                </a:solidFill>
              </a:defRPr>
            </a:pPr>
            <a:r>
              <a:rPr sz="1350" b="1">
                <a:solidFill>
                  <a:srgbClr val="111111"/>
                </a:solidFill>
              </a:rPr>
              <a:t>42/75</a:t>
            </a:r>
          </a:p>
        </p:txBody>
      </p:sp>
      <p:sp>
        <p:nvSpPr>
          <p:cNvPr id="28" name="">
            <a:extLst xmlns:a="http://schemas.openxmlformats.org/drawingml/2006/main">
              <a:ext uri="{FF2B5EF4-FFF2-40B4-BE49-F238E27FC236}">
                <a16:creationId xmlns:a16="http://schemas.microsoft.com/office/drawing/2014/main" id="{6B4E1C30-0542-434F-863D-C71C2CE074FF}"/>
              </a:ext>
            </a:extLst>
          </p:cNvPr>
          <p:cNvSpPr>
            <a:spLocks xmlns:a="http://schemas.openxmlformats.org/drawingml/2006/main" noGrp="1"/>
          </p:cNvSpPr>
          <p:nvPr/>
        </p:nvSpPr>
        <p:spPr>
          <a:xfrm xmlns:a="http://schemas.openxmlformats.org/drawingml/2006/main">
            <a:off x="3695700" y="3962400"/>
            <a:ext cx="723900" cy="57150"/>
          </a:xfrm>
          <a:prstGeom xmlns:a="http://schemas.openxmlformats.org/drawingml/2006/main" prst="rect">
            <a:avLst/>
          </a:prstGeom>
          <a:solidFill xmlns:a="http://schemas.openxmlformats.org/drawingml/2006/main">
            <a:srgbClr val="F2F2F2"/>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F3F4565-789E-4BDD-ADC0-36F6887151DD}"/>
              </a:ext>
            </a:extLst>
          </p:cNvPr>
          <p:cNvSpPr>
            <a:spLocks xmlns:a="http://schemas.openxmlformats.org/drawingml/2006/main" noGrp="1"/>
          </p:cNvSpPr>
          <p:nvPr/>
        </p:nvSpPr>
        <p:spPr>
          <a:xfrm xmlns:a="http://schemas.openxmlformats.org/drawingml/2006/main">
            <a:off x="3695700" y="3962400"/>
            <a:ext cx="409575" cy="57150"/>
          </a:xfrm>
          <a:prstGeom xmlns:a="http://schemas.openxmlformats.org/drawingml/2006/main" prst="rect">
            <a:avLst/>
          </a:prstGeom>
          <a:solidFill xmlns:a="http://schemas.openxmlformats.org/drawingml/2006/main">
            <a:srgbClr val="6D6D6D"/>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26621272-802E-4069-8EC7-EDB18B35C73B}"/>
              </a:ext>
            </a:extLst>
          </p:cNvPr>
          <p:cNvSpPr>
            <a:spLocks xmlns:a="http://schemas.openxmlformats.org/drawingml/2006/main" noGrp="1"/>
          </p:cNvSpPr>
          <p:nvPr/>
        </p:nvSpPr>
        <p:spPr>
          <a:xfrm xmlns:a="http://schemas.openxmlformats.org/drawingml/2006/main">
            <a:off x="609600" y="4324350"/>
            <a:ext cx="40386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1430">
            <a:solidFill>
              <a:srgbClr val="111111"/>
            </a:solidFill>
            <a:prstDash val="solid"/>
          </a:ln>
        </p:spPr>
      </p:sp>
      <p:sp>
        <p:nvSpPr>
          <p:cNvPr id="31" name="">
            <a:extLst xmlns:a="http://schemas.openxmlformats.org/drawingml/2006/main">
              <a:ext uri="{FF2B5EF4-FFF2-40B4-BE49-F238E27FC236}">
                <a16:creationId xmlns:a16="http://schemas.microsoft.com/office/drawing/2014/main" id="{827BDFEC-0FFA-43A6-9DBD-D9ED26E1A123}"/>
              </a:ext>
            </a:extLst>
          </p:cNvPr>
          <p:cNvSpPr>
            <a:spLocks xmlns:a="http://schemas.openxmlformats.org/drawingml/2006/main" noGrp="1"/>
          </p:cNvSpPr>
          <p:nvPr/>
        </p:nvSpPr>
        <p:spPr>
          <a:xfrm xmlns:a="http://schemas.openxmlformats.org/drawingml/2006/main">
            <a:off x="609600" y="4324350"/>
            <a:ext cx="66675" cy="552450"/>
          </a:xfrm>
          <a:prstGeom xmlns:a="http://schemas.openxmlformats.org/drawingml/2006/main" prst="rect">
            <a:avLst/>
          </a:prstGeom>
          <a:solidFill xmlns:a="http://schemas.openxmlformats.org/drawingml/2006/main">
            <a:srgbClr val="B55D2A"/>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5C1B9398-7AB3-400E-9259-C0B456AF9138}"/>
              </a:ext>
            </a:extLst>
          </p:cNvPr>
          <p:cNvSpPr>
            <a:spLocks xmlns:a="http://schemas.openxmlformats.org/drawingml/2006/main" noGrp="1"/>
          </p:cNvSpPr>
          <p:nvPr/>
        </p:nvSpPr>
        <p:spPr>
          <a:xfrm xmlns:a="http://schemas.openxmlformats.org/drawingml/2006/main">
            <a:off x="800100" y="4448175"/>
            <a:ext cx="2476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B55D2A"/>
                </a:solidFill>
              </a:defRPr>
            </a:pPr>
            <a:r>
              <a:rPr sz="1800" b="1">
                <a:solidFill>
                  <a:srgbClr val="B55D2A"/>
                </a:solidFill>
              </a:rPr>
              <a:t>4</a:t>
            </a:r>
          </a:p>
        </p:txBody>
      </p:sp>
      <p:sp>
        <p:nvSpPr>
          <p:cNvPr id="33" name="">
            <a:extLst xmlns:a="http://schemas.openxmlformats.org/drawingml/2006/main">
              <a:ext uri="{FF2B5EF4-FFF2-40B4-BE49-F238E27FC236}">
                <a16:creationId xmlns:a16="http://schemas.microsoft.com/office/drawing/2014/main" id="{B75D9298-D233-4F0B-A93A-65C62BC6D61E}"/>
              </a:ext>
            </a:extLst>
          </p:cNvPr>
          <p:cNvSpPr>
            <a:spLocks xmlns:a="http://schemas.openxmlformats.org/drawingml/2006/main" noGrp="1"/>
          </p:cNvSpPr>
          <p:nvPr/>
        </p:nvSpPr>
        <p:spPr>
          <a:xfrm xmlns:a="http://schemas.openxmlformats.org/drawingml/2006/main">
            <a:off x="1181100" y="4419600"/>
            <a:ext cx="17716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111111"/>
                </a:solidFill>
              </a:defRPr>
            </a:pPr>
            <a:r>
              <a:rPr sz="1425" b="1">
                <a:solidFill>
                  <a:srgbClr val="111111"/>
                </a:solidFill>
              </a:rPr>
              <a:t>Lovable</a:t>
            </a:r>
          </a:p>
        </p:txBody>
      </p:sp>
      <p:sp>
        <p:nvSpPr>
          <p:cNvPr id="34" name="">
            <a:extLst xmlns:a="http://schemas.openxmlformats.org/drawingml/2006/main">
              <a:ext uri="{FF2B5EF4-FFF2-40B4-BE49-F238E27FC236}">
                <a16:creationId xmlns:a16="http://schemas.microsoft.com/office/drawing/2014/main" id="{1D5D124A-DCBC-459D-822E-DB6A0471AD91}"/>
              </a:ext>
            </a:extLst>
          </p:cNvPr>
          <p:cNvSpPr>
            <a:spLocks xmlns:a="http://schemas.openxmlformats.org/drawingml/2006/main" noGrp="1"/>
          </p:cNvSpPr>
          <p:nvPr/>
        </p:nvSpPr>
        <p:spPr>
          <a:xfrm xmlns:a="http://schemas.openxmlformats.org/drawingml/2006/main">
            <a:off x="1181100" y="4657725"/>
            <a:ext cx="2428875"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3A3A3A"/>
                </a:solidFill>
              </a:defRPr>
            </a:pPr>
            <a:r>
              <a:rPr sz="900" b="0">
                <a:solidFill>
                  <a:srgbClr val="3A3A3A"/>
                </a:solidFill>
              </a:rPr>
              <a:t>Fast app builder, weaker governance</a:t>
            </a:r>
          </a:p>
        </p:txBody>
      </p:sp>
      <p:sp>
        <p:nvSpPr>
          <p:cNvPr id="35" name="">
            <a:extLst xmlns:a="http://schemas.openxmlformats.org/drawingml/2006/main">
              <a:ext uri="{FF2B5EF4-FFF2-40B4-BE49-F238E27FC236}">
                <a16:creationId xmlns:a16="http://schemas.microsoft.com/office/drawing/2014/main" id="{3E28E8D9-B6AF-4016-A5CF-D1CE794B2C34}"/>
              </a:ext>
            </a:extLst>
          </p:cNvPr>
          <p:cNvSpPr>
            <a:spLocks xmlns:a="http://schemas.openxmlformats.org/drawingml/2006/main" noGrp="1"/>
          </p:cNvSpPr>
          <p:nvPr/>
        </p:nvSpPr>
        <p:spPr>
          <a:xfrm xmlns:a="http://schemas.openxmlformats.org/drawingml/2006/main">
            <a:off x="3695700" y="4429125"/>
            <a:ext cx="7239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350" b="1">
                <a:solidFill>
                  <a:srgbClr val="111111"/>
                </a:solidFill>
              </a:defRPr>
            </a:pPr>
            <a:r>
              <a:rPr sz="1350" b="1">
                <a:solidFill>
                  <a:srgbClr val="111111"/>
                </a:solidFill>
              </a:rPr>
              <a:t>39/75</a:t>
            </a:r>
          </a:p>
        </p:txBody>
      </p:sp>
      <p:sp>
        <p:nvSpPr>
          <p:cNvPr id="36" name="">
            <a:extLst xmlns:a="http://schemas.openxmlformats.org/drawingml/2006/main">
              <a:ext uri="{FF2B5EF4-FFF2-40B4-BE49-F238E27FC236}">
                <a16:creationId xmlns:a16="http://schemas.microsoft.com/office/drawing/2014/main" id="{7A108A4A-9467-4EFB-8240-50AA6D6822E1}"/>
              </a:ext>
            </a:extLst>
          </p:cNvPr>
          <p:cNvSpPr>
            <a:spLocks xmlns:a="http://schemas.openxmlformats.org/drawingml/2006/main" noGrp="1"/>
          </p:cNvSpPr>
          <p:nvPr/>
        </p:nvSpPr>
        <p:spPr>
          <a:xfrm xmlns:a="http://schemas.openxmlformats.org/drawingml/2006/main">
            <a:off x="3695700" y="4686300"/>
            <a:ext cx="723900" cy="57150"/>
          </a:xfrm>
          <a:prstGeom xmlns:a="http://schemas.openxmlformats.org/drawingml/2006/main" prst="rect">
            <a:avLst/>
          </a:prstGeom>
          <a:solidFill xmlns:a="http://schemas.openxmlformats.org/drawingml/2006/main">
            <a:srgbClr val="F2F2F2"/>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35E35077-AAB2-433A-9823-3C6F92693D3F}"/>
              </a:ext>
            </a:extLst>
          </p:cNvPr>
          <p:cNvSpPr>
            <a:spLocks xmlns:a="http://schemas.openxmlformats.org/drawingml/2006/main" noGrp="1"/>
          </p:cNvSpPr>
          <p:nvPr/>
        </p:nvSpPr>
        <p:spPr>
          <a:xfrm xmlns:a="http://schemas.openxmlformats.org/drawingml/2006/main">
            <a:off x="3695700" y="4686300"/>
            <a:ext cx="381000" cy="57150"/>
          </a:xfrm>
          <a:prstGeom xmlns:a="http://schemas.openxmlformats.org/drawingml/2006/main" prst="rect">
            <a:avLst/>
          </a:prstGeom>
          <a:solidFill xmlns:a="http://schemas.openxmlformats.org/drawingml/2006/main">
            <a:srgbClr val="B55D2A"/>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5EDF55F0-7180-4C91-AD09-3F335FC1A874}"/>
              </a:ext>
            </a:extLst>
          </p:cNvPr>
          <p:cNvSpPr>
            <a:spLocks xmlns:a="http://schemas.openxmlformats.org/drawingml/2006/main" noGrp="1"/>
          </p:cNvSpPr>
          <p:nvPr/>
        </p:nvSpPr>
        <p:spPr>
          <a:xfrm xmlns:a="http://schemas.openxmlformats.org/drawingml/2006/main">
            <a:off x="5219700" y="1219200"/>
            <a:ext cx="6191250" cy="3638550"/>
          </a:xfrm>
          <a:prstGeom xmlns:a="http://schemas.openxmlformats.org/drawingml/2006/main" prst="roundRect">
            <a:avLst>
              <a:gd name="adj" fmla="val 2094"/>
            </a:avLst>
          </a:prstGeom>
          <a:solidFill xmlns:a="http://schemas.openxmlformats.org/drawingml/2006/main">
            <a:srgbClr val="FFFFFF"/>
          </a:solidFill>
          <a:ln xmlns:a="http://schemas.openxmlformats.org/drawingml/2006/main" w="11430">
            <a:solidFill>
              <a:srgbClr val="111111"/>
            </a:solidFill>
            <a:prstDash val="solid"/>
          </a:ln>
        </p:spPr>
      </p:sp>
      <p:sp>
        <p:nvSpPr>
          <p:cNvPr id="39" name="">
            <a:extLst xmlns:a="http://schemas.openxmlformats.org/drawingml/2006/main">
              <a:ext uri="{FF2B5EF4-FFF2-40B4-BE49-F238E27FC236}">
                <a16:creationId xmlns:a16="http://schemas.microsoft.com/office/drawing/2014/main" id="{63B28309-EF42-4476-B20B-5518429AD344}"/>
              </a:ext>
            </a:extLst>
          </p:cNvPr>
          <p:cNvSpPr>
            <a:spLocks xmlns:a="http://schemas.openxmlformats.org/drawingml/2006/main" noGrp="1"/>
          </p:cNvSpPr>
          <p:nvPr/>
        </p:nvSpPr>
        <p:spPr>
          <a:xfrm xmlns:a="http://schemas.openxmlformats.org/drawingml/2006/main">
            <a:off x="5448300" y="13906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111"/>
                </a:solidFill>
              </a:defRPr>
            </a:pPr>
            <a:r>
              <a:rPr sz="1275" b="1">
                <a:solidFill>
                  <a:srgbClr val="111111"/>
                </a:solidFill>
              </a:rPr>
              <a:t>2x2 placement</a:t>
            </a:r>
          </a:p>
        </p:txBody>
      </p:sp>
      <p:sp>
        <p:nvSpPr>
          <p:cNvPr id="40" name="">
            <a:extLst xmlns:a="http://schemas.openxmlformats.org/drawingml/2006/main">
              <a:ext uri="{FF2B5EF4-FFF2-40B4-BE49-F238E27FC236}">
                <a16:creationId xmlns:a16="http://schemas.microsoft.com/office/drawing/2014/main" id="{E8D0A8FB-A8CB-44AC-B391-58BB42BDE27E}"/>
              </a:ext>
            </a:extLst>
          </p:cNvPr>
          <p:cNvSpPr>
            <a:spLocks xmlns:a="http://schemas.openxmlformats.org/drawingml/2006/main" noGrp="1"/>
          </p:cNvSpPr>
          <p:nvPr/>
        </p:nvSpPr>
        <p:spPr>
          <a:xfrm xmlns:a="http://schemas.openxmlformats.org/drawingml/2006/main">
            <a:off x="5772150" y="4362450"/>
            <a:ext cx="4857750" cy="1905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A721854F-B9C5-4537-AD1C-ACD3A776599E}"/>
              </a:ext>
            </a:extLst>
          </p:cNvPr>
          <p:cNvSpPr>
            <a:spLocks xmlns:a="http://schemas.openxmlformats.org/drawingml/2006/main" noGrp="1"/>
          </p:cNvSpPr>
          <p:nvPr/>
        </p:nvSpPr>
        <p:spPr>
          <a:xfrm xmlns:a="http://schemas.openxmlformats.org/drawingml/2006/main">
            <a:off x="5772150" y="2038350"/>
            <a:ext cx="19050" cy="232410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6BC31E6E-A24D-486C-8F76-801FC6DF4008}"/>
              </a:ext>
            </a:extLst>
          </p:cNvPr>
          <p:cNvSpPr>
            <a:spLocks xmlns:a="http://schemas.openxmlformats.org/drawingml/2006/main" noGrp="1"/>
          </p:cNvSpPr>
          <p:nvPr/>
        </p:nvSpPr>
        <p:spPr>
          <a:xfrm xmlns:a="http://schemas.openxmlformats.org/drawingml/2006/main">
            <a:off x="8201025" y="2038350"/>
            <a:ext cx="9525" cy="2324100"/>
          </a:xfrm>
          <a:prstGeom xmlns:a="http://schemas.openxmlformats.org/drawingml/2006/main" prst="rect">
            <a:avLst/>
          </a:prstGeom>
          <a:solidFill xmlns:a="http://schemas.openxmlformats.org/drawingml/2006/main">
            <a:srgbClr val="BDBDBD"/>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067E50F0-4119-4E99-8E0A-4198E61A757A}"/>
              </a:ext>
            </a:extLst>
          </p:cNvPr>
          <p:cNvSpPr>
            <a:spLocks xmlns:a="http://schemas.openxmlformats.org/drawingml/2006/main" noGrp="1"/>
          </p:cNvSpPr>
          <p:nvPr/>
        </p:nvSpPr>
        <p:spPr>
          <a:xfrm xmlns:a="http://schemas.openxmlformats.org/drawingml/2006/main">
            <a:off x="5772150" y="3200400"/>
            <a:ext cx="4857750" cy="9525"/>
          </a:xfrm>
          <a:prstGeom xmlns:a="http://schemas.openxmlformats.org/drawingml/2006/main" prst="rect">
            <a:avLst/>
          </a:prstGeom>
          <a:solidFill xmlns:a="http://schemas.openxmlformats.org/drawingml/2006/main">
            <a:srgbClr val="BDBDBD"/>
          </a:solidFill>
          <a:ln xmlns:a="http://schemas.openxmlformats.org/drawingml/2006/main" w="0">
            <a:solidFill>
              <a:srgbClr val="000000">
                <a:alpha val="0"/>
              </a:srgbClr>
            </a:solidFill>
            <a:prstDash val="solid"/>
          </a:ln>
        </p:spPr>
      </p:sp>
      <p:sp>
        <p:nvSpPr>
          <p:cNvPr id="44" name="">
            <a:extLst xmlns:a="http://schemas.openxmlformats.org/drawingml/2006/main">
              <a:ext uri="{FF2B5EF4-FFF2-40B4-BE49-F238E27FC236}">
                <a16:creationId xmlns:a16="http://schemas.microsoft.com/office/drawing/2014/main" id="{5493F3EA-C0A5-4963-8853-694E65549A33}"/>
              </a:ext>
            </a:extLst>
          </p:cNvPr>
          <p:cNvSpPr>
            <a:spLocks xmlns:a="http://schemas.openxmlformats.org/drawingml/2006/main" noGrp="1"/>
          </p:cNvSpPr>
          <p:nvPr/>
        </p:nvSpPr>
        <p:spPr>
          <a:xfrm xmlns:a="http://schemas.openxmlformats.org/drawingml/2006/main">
            <a:off x="5772150" y="4533900"/>
            <a:ext cx="1485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6D6D"/>
                </a:solidFill>
              </a:defRPr>
            </a:pPr>
            <a:r>
              <a:rPr sz="750" b="0">
                <a:solidFill>
                  <a:srgbClr val="6D6D6D"/>
                </a:solidFill>
              </a:rPr>
              <a:t>Nice-to-Have Output</a:t>
            </a:r>
          </a:p>
        </p:txBody>
      </p:sp>
      <p:sp>
        <p:nvSpPr>
          <p:cNvPr id="45" name="">
            <a:extLst xmlns:a="http://schemas.openxmlformats.org/drawingml/2006/main">
              <a:ext uri="{FF2B5EF4-FFF2-40B4-BE49-F238E27FC236}">
                <a16:creationId xmlns:a16="http://schemas.microsoft.com/office/drawing/2014/main" id="{9368824F-B177-4B82-9A76-ECB7A5A61617}"/>
              </a:ext>
            </a:extLst>
          </p:cNvPr>
          <p:cNvSpPr>
            <a:spLocks xmlns:a="http://schemas.openxmlformats.org/drawingml/2006/main" noGrp="1"/>
          </p:cNvSpPr>
          <p:nvPr/>
        </p:nvSpPr>
        <p:spPr>
          <a:xfrm xmlns:a="http://schemas.openxmlformats.org/drawingml/2006/main">
            <a:off x="8801100" y="4533900"/>
            <a:ext cx="1828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D6D6D"/>
                </a:solidFill>
              </a:defRPr>
            </a:pPr>
            <a:r>
              <a:rPr sz="750" b="0">
                <a:solidFill>
                  <a:srgbClr val="6D6D6D"/>
                </a:solidFill>
              </a:rPr>
              <a:t>Proprietary Workflow Context</a:t>
            </a:r>
          </a:p>
        </p:txBody>
      </p:sp>
      <p:sp>
        <p:nvSpPr>
          <p:cNvPr id="46" name="">
            <a:extLst xmlns:a="http://schemas.openxmlformats.org/drawingml/2006/main">
              <a:ext uri="{FF2B5EF4-FFF2-40B4-BE49-F238E27FC236}">
                <a16:creationId xmlns:a16="http://schemas.microsoft.com/office/drawing/2014/main" id="{F9CB9160-5792-463B-9E13-115402E52360}"/>
              </a:ext>
            </a:extLst>
          </p:cNvPr>
          <p:cNvSpPr>
            <a:spLocks xmlns:a="http://schemas.openxmlformats.org/drawingml/2006/main" noGrp="1"/>
          </p:cNvSpPr>
          <p:nvPr/>
        </p:nvSpPr>
        <p:spPr>
          <a:xfrm xmlns:a="http://schemas.openxmlformats.org/drawingml/2006/main" rot="16200000">
            <a:off x="5372100" y="3619500"/>
            <a:ext cx="876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6D6D"/>
                </a:solidFill>
              </a:defRPr>
            </a:pPr>
            <a:r>
              <a:rPr sz="750" b="0">
                <a:solidFill>
                  <a:srgbClr val="6D6D6D"/>
                </a:solidFill>
              </a:rPr>
              <a:t>Prototype Surface</a:t>
            </a:r>
          </a:p>
        </p:txBody>
      </p:sp>
      <p:sp>
        <p:nvSpPr>
          <p:cNvPr id="47" name="">
            <a:extLst xmlns:a="http://schemas.openxmlformats.org/drawingml/2006/main">
              <a:ext uri="{FF2B5EF4-FFF2-40B4-BE49-F238E27FC236}">
                <a16:creationId xmlns:a16="http://schemas.microsoft.com/office/drawing/2014/main" id="{6A94995A-105F-4D72-A1A7-154C726C5278}"/>
              </a:ext>
            </a:extLst>
          </p:cNvPr>
          <p:cNvSpPr>
            <a:spLocks xmlns:a="http://schemas.openxmlformats.org/drawingml/2006/main" noGrp="1"/>
          </p:cNvSpPr>
          <p:nvPr/>
        </p:nvSpPr>
        <p:spPr>
          <a:xfrm xmlns:a="http://schemas.openxmlformats.org/drawingml/2006/main" rot="16200000">
            <a:off x="5372100" y="2095500"/>
            <a:ext cx="1257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D6D6D"/>
                </a:solidFill>
              </a:defRPr>
            </a:pPr>
            <a:r>
              <a:rPr sz="750" b="0">
                <a:solidFill>
                  <a:srgbClr val="6D6D6D"/>
                </a:solidFill>
              </a:rPr>
              <a:t>Production Workflow Control</a:t>
            </a:r>
          </a:p>
        </p:txBody>
      </p:sp>
      <p:sp>
        <p:nvSpPr>
          <p:cNvPr id="48" name="">
            <a:extLst xmlns:a="http://schemas.openxmlformats.org/drawingml/2006/main">
              <a:ext uri="{FF2B5EF4-FFF2-40B4-BE49-F238E27FC236}">
                <a16:creationId xmlns:a16="http://schemas.microsoft.com/office/drawing/2014/main" id="{CE8B02C1-4B66-46AA-8BF1-67B7A1C91834}"/>
              </a:ext>
            </a:extLst>
          </p:cNvPr>
          <p:cNvSpPr>
            <a:spLocks xmlns:a="http://schemas.openxmlformats.org/drawingml/2006/main" noGrp="1"/>
          </p:cNvSpPr>
          <p:nvPr/>
        </p:nvSpPr>
        <p:spPr>
          <a:xfrm xmlns:a="http://schemas.openxmlformats.org/drawingml/2006/main">
            <a:off x="9010650" y="2019300"/>
            <a:ext cx="1619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D6D6D"/>
                </a:solidFill>
              </a:defRPr>
            </a:pPr>
            <a:r>
              <a:rPr sz="750" b="0">
                <a:solidFill>
                  <a:srgbClr val="6D6D6D"/>
                </a:solidFill>
              </a:rPr>
              <a:t>Resilient operating surface</a:t>
            </a:r>
          </a:p>
        </p:txBody>
      </p:sp>
      <p:sp>
        <p:nvSpPr>
          <p:cNvPr id="49" name="">
            <a:extLst xmlns:a="http://schemas.openxmlformats.org/drawingml/2006/main">
              <a:ext uri="{FF2B5EF4-FFF2-40B4-BE49-F238E27FC236}">
                <a16:creationId xmlns:a16="http://schemas.microsoft.com/office/drawing/2014/main" id="{D043E1F1-A430-4920-A3B4-40DF72AE0AB3}"/>
              </a:ext>
            </a:extLst>
          </p:cNvPr>
          <p:cNvSpPr>
            <a:spLocks xmlns:a="http://schemas.openxmlformats.org/drawingml/2006/main" noGrp="1"/>
          </p:cNvSpPr>
          <p:nvPr/>
        </p:nvSpPr>
        <p:spPr>
          <a:xfrm xmlns:a="http://schemas.openxmlformats.org/drawingml/2006/main">
            <a:off x="8724900" y="4095750"/>
            <a:ext cx="1905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D6D6D"/>
                </a:solidFill>
              </a:defRPr>
            </a:pPr>
            <a:r>
              <a:rPr sz="750" b="0">
                <a:solidFill>
                  <a:srgbClr val="6D6D6D"/>
                </a:solidFill>
              </a:rPr>
              <a:t>Premium context, weak workflow</a:t>
            </a:r>
          </a:p>
        </p:txBody>
      </p:sp>
      <p:sp>
        <p:nvSpPr>
          <p:cNvPr id="50" name="">
            <a:extLst xmlns:a="http://schemas.openxmlformats.org/drawingml/2006/main">
              <a:ext uri="{FF2B5EF4-FFF2-40B4-BE49-F238E27FC236}">
                <a16:creationId xmlns:a16="http://schemas.microsoft.com/office/drawing/2014/main" id="{8A091151-821F-49AE-8BFA-1B224E63EB27}"/>
              </a:ext>
            </a:extLst>
          </p:cNvPr>
          <p:cNvSpPr>
            <a:spLocks xmlns:a="http://schemas.openxmlformats.org/drawingml/2006/main" noGrp="1"/>
          </p:cNvSpPr>
          <p:nvPr/>
        </p:nvSpPr>
        <p:spPr>
          <a:xfrm xmlns:a="http://schemas.openxmlformats.org/drawingml/2006/main">
            <a:off x="9001125" y="274320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111"/>
            </a:solidFill>
            <a:prstDash val="solid"/>
          </a:ln>
        </p:spPr>
      </p:sp>
      <p:sp>
        <p:nvSpPr>
          <p:cNvPr id="51" name="">
            <a:extLst xmlns:a="http://schemas.openxmlformats.org/drawingml/2006/main">
              <a:ext uri="{FF2B5EF4-FFF2-40B4-BE49-F238E27FC236}">
                <a16:creationId xmlns:a16="http://schemas.microsoft.com/office/drawing/2014/main" id="{24C0752A-DA56-4F54-A605-0EEE2FB1B0F9}"/>
              </a:ext>
            </a:extLst>
          </p:cNvPr>
          <p:cNvSpPr>
            <a:spLocks xmlns:a="http://schemas.openxmlformats.org/drawingml/2006/main" noGrp="1"/>
          </p:cNvSpPr>
          <p:nvPr/>
        </p:nvSpPr>
        <p:spPr>
          <a:xfrm xmlns:a="http://schemas.openxmlformats.org/drawingml/2006/main">
            <a:off x="9153525" y="2800350"/>
            <a:ext cx="419100" cy="1143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52" name="">
            <a:extLst xmlns:a="http://schemas.openxmlformats.org/drawingml/2006/main">
              <a:ext uri="{FF2B5EF4-FFF2-40B4-BE49-F238E27FC236}">
                <a16:creationId xmlns:a16="http://schemas.microsoft.com/office/drawing/2014/main" id="{1A6D43F4-6A2B-444B-8603-BBC2F1CBBB46}"/>
              </a:ext>
            </a:extLst>
          </p:cNvPr>
          <p:cNvSpPr>
            <a:spLocks xmlns:a="http://schemas.openxmlformats.org/drawingml/2006/main" noGrp="1"/>
          </p:cNvSpPr>
          <p:nvPr/>
        </p:nvSpPr>
        <p:spPr>
          <a:xfrm xmlns:a="http://schemas.openxmlformats.org/drawingml/2006/main">
            <a:off x="9572625" y="2400300"/>
            <a:ext cx="11430" cy="40005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53" name="">
            <a:extLst xmlns:a="http://schemas.openxmlformats.org/drawingml/2006/main">
              <a:ext uri="{FF2B5EF4-FFF2-40B4-BE49-F238E27FC236}">
                <a16:creationId xmlns:a16="http://schemas.microsoft.com/office/drawing/2014/main" id="{5073B287-4052-4E45-8F65-042E665888AC}"/>
              </a:ext>
            </a:extLst>
          </p:cNvPr>
          <p:cNvSpPr>
            <a:spLocks xmlns:a="http://schemas.openxmlformats.org/drawingml/2006/main" noGrp="1"/>
          </p:cNvSpPr>
          <p:nvPr/>
        </p:nvSpPr>
        <p:spPr>
          <a:xfrm xmlns:a="http://schemas.openxmlformats.org/drawingml/2006/main">
            <a:off x="9591675" y="2324100"/>
            <a:ext cx="1790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111"/>
                </a:solidFill>
              </a:defRPr>
            </a:pPr>
            <a:r>
              <a:rPr sz="1050" b="1">
                <a:solidFill>
                  <a:srgbClr val="111111"/>
                </a:solidFill>
              </a:rPr>
              <a:t>Vercel v0 (52/75)</a:t>
            </a:r>
          </a:p>
        </p:txBody>
      </p:sp>
      <p:sp>
        <p:nvSpPr>
          <p:cNvPr id="54" name="">
            <a:extLst xmlns:a="http://schemas.openxmlformats.org/drawingml/2006/main">
              <a:ext uri="{FF2B5EF4-FFF2-40B4-BE49-F238E27FC236}">
                <a16:creationId xmlns:a16="http://schemas.microsoft.com/office/drawing/2014/main" id="{A079788A-7143-485D-AF72-E67B4F4C45ED}"/>
              </a:ext>
            </a:extLst>
          </p:cNvPr>
          <p:cNvSpPr>
            <a:spLocks xmlns:a="http://schemas.openxmlformats.org/drawingml/2006/main" noGrp="1"/>
          </p:cNvSpPr>
          <p:nvPr/>
        </p:nvSpPr>
        <p:spPr>
          <a:xfrm xmlns:a="http://schemas.openxmlformats.org/drawingml/2006/main">
            <a:off x="8791575" y="293370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111"/>
            </a:solidFill>
            <a:prstDash val="solid"/>
          </a:ln>
        </p:spPr>
      </p:sp>
      <p:sp>
        <p:nvSpPr>
          <p:cNvPr id="55" name="">
            <a:extLst xmlns:a="http://schemas.openxmlformats.org/drawingml/2006/main">
              <a:ext uri="{FF2B5EF4-FFF2-40B4-BE49-F238E27FC236}">
                <a16:creationId xmlns:a16="http://schemas.microsoft.com/office/drawing/2014/main" id="{B3F94E43-383D-4103-8F1D-7BC27A5CDAC5}"/>
              </a:ext>
            </a:extLst>
          </p:cNvPr>
          <p:cNvSpPr>
            <a:spLocks xmlns:a="http://schemas.openxmlformats.org/drawingml/2006/main" noGrp="1"/>
          </p:cNvSpPr>
          <p:nvPr/>
        </p:nvSpPr>
        <p:spPr>
          <a:xfrm xmlns:a="http://schemas.openxmlformats.org/drawingml/2006/main">
            <a:off x="8943975" y="2990850"/>
            <a:ext cx="514350" cy="1143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56" name="">
            <a:extLst xmlns:a="http://schemas.openxmlformats.org/drawingml/2006/main">
              <a:ext uri="{FF2B5EF4-FFF2-40B4-BE49-F238E27FC236}">
                <a16:creationId xmlns:a16="http://schemas.microsoft.com/office/drawing/2014/main" id="{4840A4CD-9E0B-48DD-A126-AB7BD9162ABD}"/>
              </a:ext>
            </a:extLst>
          </p:cNvPr>
          <p:cNvSpPr>
            <a:spLocks xmlns:a="http://schemas.openxmlformats.org/drawingml/2006/main" noGrp="1"/>
          </p:cNvSpPr>
          <p:nvPr/>
        </p:nvSpPr>
        <p:spPr>
          <a:xfrm xmlns:a="http://schemas.openxmlformats.org/drawingml/2006/main">
            <a:off x="9477375" y="2933700"/>
            <a:ext cx="1790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111"/>
                </a:solidFill>
              </a:defRPr>
            </a:pPr>
            <a:r>
              <a:rPr sz="1050" b="1">
                <a:solidFill>
                  <a:srgbClr val="111111"/>
                </a:solidFill>
              </a:rPr>
              <a:t>Figma Make (48/75)</a:t>
            </a:r>
          </a:p>
        </p:txBody>
      </p:sp>
      <p:sp>
        <p:nvSpPr>
          <p:cNvPr id="57" name="">
            <a:extLst xmlns:a="http://schemas.openxmlformats.org/drawingml/2006/main">
              <a:ext uri="{FF2B5EF4-FFF2-40B4-BE49-F238E27FC236}">
                <a16:creationId xmlns:a16="http://schemas.microsoft.com/office/drawing/2014/main" id="{09113324-0F6F-4132-9FE0-899A760F327B}"/>
              </a:ext>
            </a:extLst>
          </p:cNvPr>
          <p:cNvSpPr>
            <a:spLocks xmlns:a="http://schemas.openxmlformats.org/drawingml/2006/main" noGrp="1"/>
          </p:cNvSpPr>
          <p:nvPr/>
        </p:nvSpPr>
        <p:spPr>
          <a:xfrm xmlns:a="http://schemas.openxmlformats.org/drawingml/2006/main">
            <a:off x="8391525" y="331470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111"/>
            </a:solidFill>
            <a:prstDash val="solid"/>
          </a:ln>
        </p:spPr>
      </p:sp>
      <p:sp>
        <p:nvSpPr>
          <p:cNvPr id="58" name="">
            <a:extLst xmlns:a="http://schemas.openxmlformats.org/drawingml/2006/main">
              <a:ext uri="{FF2B5EF4-FFF2-40B4-BE49-F238E27FC236}">
                <a16:creationId xmlns:a16="http://schemas.microsoft.com/office/drawing/2014/main" id="{167E7187-E98A-4E5D-9821-3152D7EB9542}"/>
              </a:ext>
            </a:extLst>
          </p:cNvPr>
          <p:cNvSpPr>
            <a:spLocks xmlns:a="http://schemas.openxmlformats.org/drawingml/2006/main" noGrp="1"/>
          </p:cNvSpPr>
          <p:nvPr/>
        </p:nvSpPr>
        <p:spPr>
          <a:xfrm xmlns:a="http://schemas.openxmlformats.org/drawingml/2006/main">
            <a:off x="8543925" y="3371850"/>
            <a:ext cx="590550" cy="1143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59" name="">
            <a:extLst xmlns:a="http://schemas.openxmlformats.org/drawingml/2006/main">
              <a:ext uri="{FF2B5EF4-FFF2-40B4-BE49-F238E27FC236}">
                <a16:creationId xmlns:a16="http://schemas.microsoft.com/office/drawing/2014/main" id="{B9DE32BE-EE90-48CB-B852-F871D9D8AEBB}"/>
              </a:ext>
            </a:extLst>
          </p:cNvPr>
          <p:cNvSpPr>
            <a:spLocks xmlns:a="http://schemas.openxmlformats.org/drawingml/2006/main" noGrp="1"/>
          </p:cNvSpPr>
          <p:nvPr/>
        </p:nvSpPr>
        <p:spPr>
          <a:xfrm xmlns:a="http://schemas.openxmlformats.org/drawingml/2006/main">
            <a:off x="9134475" y="3371850"/>
            <a:ext cx="11430" cy="49530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60" name="">
            <a:extLst xmlns:a="http://schemas.openxmlformats.org/drawingml/2006/main">
              <a:ext uri="{FF2B5EF4-FFF2-40B4-BE49-F238E27FC236}">
                <a16:creationId xmlns:a16="http://schemas.microsoft.com/office/drawing/2014/main" id="{39EEE7BA-D9BF-41BD-939F-2E0EF7B51460}"/>
              </a:ext>
            </a:extLst>
          </p:cNvPr>
          <p:cNvSpPr>
            <a:spLocks xmlns:a="http://schemas.openxmlformats.org/drawingml/2006/main" noGrp="1"/>
          </p:cNvSpPr>
          <p:nvPr/>
        </p:nvSpPr>
        <p:spPr>
          <a:xfrm xmlns:a="http://schemas.openxmlformats.org/drawingml/2006/main">
            <a:off x="9153525" y="3790950"/>
            <a:ext cx="1790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111"/>
                </a:solidFill>
              </a:defRPr>
            </a:pPr>
            <a:r>
              <a:rPr sz="1050" b="1">
                <a:solidFill>
                  <a:srgbClr val="111111"/>
                </a:solidFill>
              </a:rPr>
              <a:t>Claude Design (42/75)</a:t>
            </a:r>
          </a:p>
        </p:txBody>
      </p:sp>
      <p:sp>
        <p:nvSpPr>
          <p:cNvPr id="61" name="">
            <a:extLst xmlns:a="http://schemas.openxmlformats.org/drawingml/2006/main">
              <a:ext uri="{FF2B5EF4-FFF2-40B4-BE49-F238E27FC236}">
                <a16:creationId xmlns:a16="http://schemas.microsoft.com/office/drawing/2014/main" id="{E4634130-5090-47EC-8B75-B7A9FDCC6D09}"/>
              </a:ext>
            </a:extLst>
          </p:cNvPr>
          <p:cNvSpPr>
            <a:spLocks xmlns:a="http://schemas.openxmlformats.org/drawingml/2006/main" noGrp="1"/>
          </p:cNvSpPr>
          <p:nvPr/>
        </p:nvSpPr>
        <p:spPr>
          <a:xfrm xmlns:a="http://schemas.openxmlformats.org/drawingml/2006/main">
            <a:off x="8001000" y="320040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111"/>
            </a:solidFill>
            <a:prstDash val="solid"/>
          </a:ln>
        </p:spPr>
      </p:sp>
      <p:sp>
        <p:nvSpPr>
          <p:cNvPr id="62" name="">
            <a:extLst xmlns:a="http://schemas.openxmlformats.org/drawingml/2006/main">
              <a:ext uri="{FF2B5EF4-FFF2-40B4-BE49-F238E27FC236}">
                <a16:creationId xmlns:a16="http://schemas.microsoft.com/office/drawing/2014/main" id="{4CDF0515-CF0D-401A-AB39-D5E7070F9ADD}"/>
              </a:ext>
            </a:extLst>
          </p:cNvPr>
          <p:cNvSpPr>
            <a:spLocks xmlns:a="http://schemas.openxmlformats.org/drawingml/2006/main" noGrp="1"/>
          </p:cNvSpPr>
          <p:nvPr/>
        </p:nvSpPr>
        <p:spPr>
          <a:xfrm xmlns:a="http://schemas.openxmlformats.org/drawingml/2006/main">
            <a:off x="8191500" y="3257550"/>
            <a:ext cx="76200" cy="1143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63" name="">
            <a:extLst xmlns:a="http://schemas.openxmlformats.org/drawingml/2006/main">
              <a:ext uri="{FF2B5EF4-FFF2-40B4-BE49-F238E27FC236}">
                <a16:creationId xmlns:a16="http://schemas.microsoft.com/office/drawing/2014/main" id="{64CD0252-1772-409E-8CCB-E7C32C0F139F}"/>
              </a:ext>
            </a:extLst>
          </p:cNvPr>
          <p:cNvSpPr>
            <a:spLocks xmlns:a="http://schemas.openxmlformats.org/drawingml/2006/main" noGrp="1"/>
          </p:cNvSpPr>
          <p:nvPr/>
        </p:nvSpPr>
        <p:spPr>
          <a:xfrm xmlns:a="http://schemas.openxmlformats.org/drawingml/2006/main">
            <a:off x="8191500" y="3257550"/>
            <a:ext cx="11430" cy="590550"/>
          </a:xfrm>
          <a:prstGeom xmlns:a="http://schemas.openxmlformats.org/drawingml/2006/main" prst="rect">
            <a:avLst/>
          </a:prstGeom>
          <a:solidFill xmlns:a="http://schemas.openxmlformats.org/drawingml/2006/main">
            <a:srgbClr val="111111"/>
          </a:solidFill>
          <a:ln xmlns:a="http://schemas.openxmlformats.org/drawingml/2006/main" w="0">
            <a:solidFill>
              <a:srgbClr val="000000">
                <a:alpha val="0"/>
              </a:srgbClr>
            </a:solidFill>
            <a:prstDash val="solid"/>
          </a:ln>
        </p:spPr>
      </p:sp>
      <p:sp>
        <p:nvSpPr>
          <p:cNvPr id="64" name="">
            <a:extLst xmlns:a="http://schemas.openxmlformats.org/drawingml/2006/main">
              <a:ext uri="{FF2B5EF4-FFF2-40B4-BE49-F238E27FC236}">
                <a16:creationId xmlns:a16="http://schemas.microsoft.com/office/drawing/2014/main" id="{B677730D-BFE2-4772-8DBB-BAC5ACC7674A}"/>
              </a:ext>
            </a:extLst>
          </p:cNvPr>
          <p:cNvSpPr>
            <a:spLocks xmlns:a="http://schemas.openxmlformats.org/drawingml/2006/main" noGrp="1"/>
          </p:cNvSpPr>
          <p:nvPr/>
        </p:nvSpPr>
        <p:spPr>
          <a:xfrm xmlns:a="http://schemas.openxmlformats.org/drawingml/2006/main">
            <a:off x="6400800" y="3771900"/>
            <a:ext cx="1790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11111"/>
                </a:solidFill>
              </a:defRPr>
            </a:pPr>
            <a:r>
              <a:rPr sz="1050" b="1">
                <a:solidFill>
                  <a:srgbClr val="111111"/>
                </a:solidFill>
              </a:rPr>
              <a:t>Lovable (39/75)</a:t>
            </a:r>
          </a:p>
        </p:txBody>
      </p:sp>
      <p:sp>
        <p:nvSpPr>
          <p:cNvPr id="65" name="">
            <a:extLst xmlns:a="http://schemas.openxmlformats.org/drawingml/2006/main">
              <a:ext uri="{FF2B5EF4-FFF2-40B4-BE49-F238E27FC236}">
                <a16:creationId xmlns:a16="http://schemas.microsoft.com/office/drawing/2014/main" id="{7562EBEC-3238-40BE-880B-72B447F17B46}"/>
              </a:ext>
            </a:extLst>
          </p:cNvPr>
          <p:cNvSpPr>
            <a:spLocks xmlns:a="http://schemas.openxmlformats.org/drawingml/2006/main" noGrp="1"/>
          </p:cNvSpPr>
          <p:nvPr/>
        </p:nvSpPr>
        <p:spPr>
          <a:xfrm xmlns:a="http://schemas.openxmlformats.org/drawingml/2006/main">
            <a:off x="609600" y="5219700"/>
            <a:ext cx="10801350" cy="9144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1430">
            <a:solidFill>
              <a:srgbClr val="111111"/>
            </a:solidFill>
            <a:prstDash val="solid"/>
          </a:ln>
        </p:spPr>
      </p:sp>
      <p:sp>
        <p:nvSpPr>
          <p:cNvPr id="66" name="">
            <a:extLst xmlns:a="http://schemas.openxmlformats.org/drawingml/2006/main">
              <a:ext uri="{FF2B5EF4-FFF2-40B4-BE49-F238E27FC236}">
                <a16:creationId xmlns:a16="http://schemas.microsoft.com/office/drawing/2014/main" id="{6DBAC39A-1BAA-49E5-BDA1-EEC86E5FB388}"/>
              </a:ext>
            </a:extLst>
          </p:cNvPr>
          <p:cNvSpPr>
            <a:spLocks xmlns:a="http://schemas.openxmlformats.org/drawingml/2006/main" noGrp="1"/>
          </p:cNvSpPr>
          <p:nvPr/>
        </p:nvSpPr>
        <p:spPr>
          <a:xfrm xmlns:a="http://schemas.openxmlformats.org/drawingml/2006/main">
            <a:off x="857250" y="542925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111"/>
                </a:solidFill>
              </a:defRPr>
            </a:pPr>
            <a:r>
              <a:rPr sz="1350" b="1">
                <a:solidFill>
                  <a:srgbClr val="111111"/>
                </a:solidFill>
              </a:rPr>
              <a:t>Confidence: Medium</a:t>
            </a:r>
          </a:p>
        </p:txBody>
      </p:sp>
      <p:sp>
        <p:nvSpPr>
          <p:cNvPr id="67" name="">
            <a:extLst xmlns:a="http://schemas.openxmlformats.org/drawingml/2006/main">
              <a:ext uri="{FF2B5EF4-FFF2-40B4-BE49-F238E27FC236}">
                <a16:creationId xmlns:a16="http://schemas.microsoft.com/office/drawing/2014/main" id="{9D50EF57-BF4C-457D-B49F-25A08A16A748}"/>
              </a:ext>
            </a:extLst>
          </p:cNvPr>
          <p:cNvSpPr>
            <a:spLocks xmlns:a="http://schemas.openxmlformats.org/drawingml/2006/main" noGrp="1"/>
          </p:cNvSpPr>
          <p:nvPr/>
        </p:nvSpPr>
        <p:spPr>
          <a:xfrm xmlns:a="http://schemas.openxmlformats.org/drawingml/2006/main">
            <a:off x="2895600" y="5410200"/>
            <a:ext cx="63246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3A3A3A"/>
                </a:solidFill>
              </a:defRPr>
            </a:pPr>
            <a:r>
              <a:rPr sz="1050" b="0">
                <a:solidFill>
                  <a:srgbClr val="3A3A3A"/>
                </a:solidFill>
              </a:rPr>
              <a:t>Category effect matters: v0 scores higher partly because it is closer to production. Figma Make and Lovable use April 14 observed task evidence. Claude Design and v0 do not receive empirical parity without new live runs.</a:t>
            </a:r>
          </a:p>
        </p:txBody>
      </p:sp>
      <p:sp>
        <p:nvSpPr>
          <p:cNvPr id="68" name="">
            <a:extLst xmlns:a="http://schemas.openxmlformats.org/drawingml/2006/main">
              <a:ext uri="{FF2B5EF4-FFF2-40B4-BE49-F238E27FC236}">
                <a16:creationId xmlns:a16="http://schemas.microsoft.com/office/drawing/2014/main" id="{52F93059-97A2-418E-8767-71F358D7528A}"/>
              </a:ext>
            </a:extLst>
          </p:cNvPr>
          <p:cNvSpPr>
            <a:spLocks xmlns:a="http://schemas.openxmlformats.org/drawingml/2006/main" noGrp="1"/>
          </p:cNvSpPr>
          <p:nvPr/>
        </p:nvSpPr>
        <p:spPr>
          <a:xfrm xmlns:a="http://schemas.openxmlformats.org/drawingml/2006/main">
            <a:off x="2895600" y="5829300"/>
            <a:ext cx="63246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D6D6D"/>
                </a:solidFill>
              </a:defRPr>
            </a:pPr>
            <a:r>
              <a:rPr sz="900" b="0">
                <a:solidFill>
                  <a:srgbClr val="6D6D6D"/>
                </a:solidFill>
              </a:rPr>
              <a:t>Next evidence: same governed creation-to-publish protocol for Claude Design and v0.</a:t>
            </a:r>
          </a:p>
        </p:txBody>
      </p:sp>
      <p:sp>
        <p:nvSpPr>
          <p:cNvPr id="69" name="">
            <a:extLst xmlns:a="http://schemas.openxmlformats.org/drawingml/2006/main">
              <a:ext uri="{FF2B5EF4-FFF2-40B4-BE49-F238E27FC236}">
                <a16:creationId xmlns:a16="http://schemas.microsoft.com/office/drawing/2014/main" id="{B372E1FC-B82C-41A5-B38A-266776ECE94E}"/>
              </a:ext>
            </a:extLst>
          </p:cNvPr>
          <p:cNvSpPr>
            <a:spLocks xmlns:a="http://schemas.openxmlformats.org/drawingml/2006/main" noGrp="1"/>
          </p:cNvSpPr>
          <p:nvPr/>
        </p:nvSpPr>
        <p:spPr>
          <a:xfrm xmlns:a="http://schemas.openxmlformats.org/drawingml/2006/main">
            <a:off x="9353550" y="5829300"/>
            <a:ext cx="1809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D6D6D"/>
                </a:solidFill>
              </a:defRPr>
            </a:pPr>
            <a:r>
              <a:rPr sz="750" b="0">
                <a:solidFill>
                  <a:srgbClr val="6D6D6D"/>
                </a:solidFill>
              </a:rPr>
              <a:t>Source: full markdown report, structured JSON, and 2x2 SVG in /reports.</a:t>
            </a:r>
          </a:p>
        </p:txBody>
      </p:sp>
    </p:spTree>
    <p:extLst>
      <p:ext uri="{BB962C8B-B14F-4D97-AF65-F5344CB8AC3E}">
        <p14:creationId xmlns:p14="http://schemas.microsoft.com/office/powerpoint/2010/main" val="1498729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2026-04-22T22:27:54.1000000Z</dcterms:created>
  <dcterms:modified xsi:type="dcterms:W3CDTF">2026-04-22T22:27:54.1000000Z</dcterms:modified>
</coreProperties>
</file>